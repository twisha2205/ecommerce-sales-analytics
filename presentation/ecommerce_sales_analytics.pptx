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5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4297680" y="4736592"/>
            <a:ext cx="3566160" cy="530352"/>
          </a:xfrm>
          <a:prstGeom prst="roundRect">
            <a:avLst/>
          </a:prstGeom>
          <a:solidFill>
            <a:srgbClr val="17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683F7"/>
                </a:solidFill>
                <a:latin typeface="Aptos"/>
              </a:rPr>
              <a:t>E-COMMERCE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173B7A"/>
                </a:solidFill>
                <a:latin typeface="Aptos"/>
              </a:rPr>
              <a:t>SALES &amp; CUSTOMER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5628A"/>
                </a:solidFill>
                <a:latin typeface="Aptos"/>
              </a:rPr>
              <a:t>Data-driven analysis of sales, profitability, returns and customer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63241"/>
                </a:solidFill>
                <a:latin typeface="Aptos"/>
              </a:rPr>
              <a:t>Python • Pandas • Matplotlib • Seaborn • Power BI • Git &amp;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48006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Internship Final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3B7A"/>
                </a:solidFill>
                <a:latin typeface="Aptos"/>
              </a:rPr>
              <a:t>Twisha Thakkar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B7A"/>
                </a:solidFill>
                <a:latin typeface="Aptos"/>
              </a:rP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5628A"/>
                </a:solidFill>
                <a:latin typeface="Aptos"/>
              </a:rPr>
              <a:t>Understanding the business question and analytical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64008" cy="1325880"/>
          </a:xfrm>
          <a:prstGeom prst="rect">
            <a:avLst/>
          </a:prstGeom>
          <a:solidFill>
            <a:srgbClr val="168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17319"/>
            <a:ext cx="3154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628A"/>
                </a:solidFill>
                <a:latin typeface="Aptos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19072"/>
            <a:ext cx="315467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73B7A"/>
                </a:solidFill>
                <a:latin typeface="Aptos"/>
              </a:rPr>
              <a:t>34,500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12848"/>
            <a:ext cx="3154679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3241"/>
                </a:solidFill>
                <a:latin typeface="Aptos"/>
              </a:rPr>
              <a:t>17 columns covering orders, products, customers and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28016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61688" y="1280160"/>
            <a:ext cx="64008" cy="1325880"/>
          </a:xfrm>
          <a:prstGeom prst="rect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417319"/>
            <a:ext cx="3154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628A"/>
                </a:solidFill>
                <a:latin typeface="Aptos"/>
              </a:rPr>
              <a:t>PROJECT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3420" y="1690527"/>
            <a:ext cx="3154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73B7A"/>
                </a:solidFill>
                <a:latin typeface="Aptos"/>
              </a:rPr>
              <a:t>E-commerce</a:t>
            </a:r>
            <a:r>
              <a:rPr sz="2400" b="1" dirty="0">
                <a:solidFill>
                  <a:srgbClr val="173B7A"/>
                </a:solidFill>
                <a:latin typeface="Aptos"/>
              </a:rPr>
              <a:t> </a:t>
            </a:r>
            <a:r>
              <a:rPr sz="2000" b="1" dirty="0">
                <a:solidFill>
                  <a:srgbClr val="173B7A"/>
                </a:solidFill>
                <a:latin typeface="Aptos"/>
              </a:rPr>
              <a:t>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12848"/>
            <a:ext cx="3154679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263241"/>
                </a:solidFill>
                <a:latin typeface="Aptos"/>
              </a:rPr>
              <a:t>Sales, customer, profitability and returns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28016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1280160"/>
            <a:ext cx="64008" cy="1325880"/>
          </a:xfrm>
          <a:prstGeom prst="rect">
            <a:avLst/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5" y="1417319"/>
            <a:ext cx="3154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628A"/>
                </a:solidFill>
                <a:latin typeface="Aptos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1719072"/>
            <a:ext cx="315467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000" b="1" dirty="0">
                <a:solidFill>
                  <a:srgbClr val="173B7A"/>
                </a:solidFill>
                <a:latin typeface="Aptos"/>
              </a:rPr>
              <a:t>Dashboard +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2212848"/>
            <a:ext cx="3154679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3241"/>
                </a:solidFill>
                <a:latin typeface="Aptos"/>
              </a:rPr>
              <a:t>Python EDA, five visualizations and an interactive Power BI dashboard.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9260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09067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3B7A"/>
                </a:solidFill>
                <a:latin typeface="Aptos"/>
              </a:rPr>
              <a:t>Project Objectives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520440"/>
            <a:ext cx="4892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Prepare and validate a real-world e-commerce transaction dataset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Identify sales, profitability, return and customer patterns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Build meaningful visualizations and an interactive dashboard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Convert findings into actionable business recommendations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29260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09067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3B7A"/>
                </a:solidFill>
                <a:latin typeface="Aptos"/>
              </a:rPr>
              <a:t>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520440"/>
            <a:ext cx="4892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Data collection → inspection → cleaning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Exploratory data analysis and correlation analysis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Visualization and KPI development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Power BI dashboard → business insights → recommendations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5628A"/>
                </a:solidFill>
                <a:latin typeface="Aptos"/>
              </a:rPr>
              <a:t>E-Commerce Sales &amp; Customer Analytics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B7A"/>
                </a:solidFill>
                <a:latin typeface="Aptos"/>
              </a:rP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5628A"/>
                </a:solidFill>
                <a:latin typeface="Aptos"/>
              </a:rPr>
              <a:t>What the analysis is designed to solve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44751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3B7A"/>
                </a:solidFill>
                <a:latin typeface="Aptos"/>
              </a:rPr>
              <a:t>Business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846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E-commerce transactions contain multiple dimensions such as category, region, payment method, returns and customer attributes.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Raw transaction data alone makes it difficult to quickly identify strong and weak business areas.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The project converts raw records into clear metrics, trends and visual evidence for decision-making.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44751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3B7A"/>
                </a:solidFill>
                <a:latin typeface="Aptos"/>
              </a:rPr>
              <a:t>Key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846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Which product categories generate the most sales and profit?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How do sales change across regions and months?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Which categories have weaker profitability?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What is the overall and category-wise return rate?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What actions can improve revenue and profitability?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5628A"/>
                </a:solidFill>
                <a:latin typeface="Aptos"/>
              </a:rPr>
              <a:t>E-Commerce Sales &amp; Customer Analytics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B7A"/>
                </a:solidFill>
                <a:latin typeface="Aptos"/>
              </a:rPr>
              <a:t>3. Tools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5628A"/>
                </a:solidFill>
                <a:latin typeface="Aptos"/>
              </a:rPr>
              <a:t>From raw transactions to business-ready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011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64008" cy="1874519"/>
          </a:xfrm>
          <a:prstGeom prst="rect">
            <a:avLst/>
          </a:prstGeom>
          <a:solidFill>
            <a:srgbClr val="168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628A"/>
                </a:solidFill>
                <a:latin typeface="Aptos"/>
              </a:rPr>
              <a:t>01 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04288"/>
            <a:ext cx="1691640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3241"/>
                </a:solidFill>
                <a:latin typeface="Aptos"/>
              </a:rPr>
              <a:t>Kaggle dataset
34,500 ×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371600"/>
            <a:ext cx="2011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88920" y="1371600"/>
            <a:ext cx="64008" cy="1874519"/>
          </a:xfrm>
          <a:prstGeom prst="rect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71800" y="1508760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628A"/>
                </a:solidFill>
                <a:latin typeface="Aptos"/>
              </a:rPr>
              <a:t>02  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304288"/>
            <a:ext cx="1691640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3241"/>
                </a:solidFill>
                <a:latin typeface="Aptos"/>
              </a:rPr>
              <a:t>Validate types
Check 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371600"/>
            <a:ext cx="2011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74920" y="1371600"/>
            <a:ext cx="64008" cy="1874519"/>
          </a:xfrm>
          <a:prstGeom prst="rect">
            <a:avLst/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800" y="1508760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628A"/>
                </a:solidFill>
                <a:latin typeface="Aptos"/>
              </a:rPr>
              <a:t>03  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304288"/>
            <a:ext cx="1691640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3241"/>
                </a:solidFill>
                <a:latin typeface="Aptos"/>
              </a:rPr>
              <a:t>EDA + statistics
Correlation + outliers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371600"/>
            <a:ext cx="2011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60920" y="1371600"/>
            <a:ext cx="64008" cy="1874519"/>
          </a:xfrm>
          <a:prstGeom prst="rect">
            <a:avLst/>
          </a:prstGeom>
          <a:solidFill>
            <a:srgbClr val="F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43800" y="1508760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628A"/>
                </a:solidFill>
                <a:latin typeface="Aptos"/>
              </a:rPr>
              <a:t>04  Visualize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304288"/>
            <a:ext cx="1691640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3241"/>
                </a:solidFill>
                <a:latin typeface="Aptos"/>
              </a:rPr>
              <a:t>5 meaningful charts
Trend &amp; comparisons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1371600"/>
            <a:ext cx="2011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46920" y="1371600"/>
            <a:ext cx="64008" cy="18745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29800" y="1508760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628A"/>
                </a:solidFill>
                <a:latin typeface="Aptos"/>
              </a:rPr>
              <a:t>05 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304288"/>
            <a:ext cx="1691640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3241"/>
                </a:solidFill>
                <a:latin typeface="Aptos"/>
              </a:rPr>
              <a:t>Power BI KPIs
Filters &amp; visuals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033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73B7A"/>
                </a:solidFill>
                <a:latin typeface="Aptos"/>
              </a:rPr>
              <a:t>Python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37033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73B7A"/>
                </a:solidFill>
                <a:latin typeface="Aptos"/>
              </a:rPr>
              <a:t>Pandas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370332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73B7A"/>
                </a:solidFill>
                <a:latin typeface="Aptos"/>
              </a:rPr>
              <a:t>Matplotlib / Seaborn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7033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73B7A"/>
                </a:solidFill>
                <a:latin typeface="Aptos"/>
              </a:rPr>
              <a:t>Power BI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37033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73B7A"/>
                </a:solidFill>
                <a:latin typeface="Aptos"/>
              </a:rPr>
              <a:t>Git &amp; GitHub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343400"/>
            <a:ext cx="10287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4507992"/>
            <a:ext cx="9829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3B7A"/>
                </a:solidFill>
                <a:latin typeface="Aptos"/>
              </a:rPr>
              <a:t>Data Quality Checks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937760"/>
            <a:ext cx="9829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No missing values • No duplicate rows • Date converted to datetime • Invalid numeric values checked • Genuine negative profit margins retained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5628A"/>
                </a:solidFill>
                <a:latin typeface="Aptos"/>
              </a:rPr>
              <a:t>E-Commerce Sales &amp; Customer Analytics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B7A"/>
                </a:solidFill>
                <a:latin typeface="Aptos"/>
              </a:rPr>
              <a:t>4. EDA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5628A"/>
                </a:solidFill>
                <a:latin typeface="Aptos"/>
              </a:rPr>
              <a:t>Key patterns discovered during exploratory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64008" cy="1234440"/>
          </a:xfrm>
          <a:prstGeom prst="rect">
            <a:avLst/>
          </a:prstGeom>
          <a:solidFill>
            <a:srgbClr val="168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2588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628A"/>
                </a:solidFill>
                <a:latin typeface="Aptos"/>
              </a:rPr>
              <a:t>TOTAL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62763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3B7A"/>
                </a:solidFill>
                <a:latin typeface="Aptos"/>
              </a:rPr>
              <a:t>≈ 5.87M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887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7560" y="1188720"/>
            <a:ext cx="64008" cy="1234440"/>
          </a:xfrm>
          <a:prstGeom prst="rect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97580" y="1316736"/>
            <a:ext cx="21945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000" b="1" dirty="0">
                <a:solidFill>
                  <a:srgbClr val="45628A"/>
                </a:solidFill>
                <a:latin typeface="Aptos"/>
              </a:rPr>
              <a:t>TOTAL ORDERS</a:t>
            </a:r>
            <a:endParaRPr sz="1000" b="1" dirty="0">
              <a:solidFill>
                <a:srgbClr val="45628A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20440" y="162763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73B7A"/>
                </a:solidFill>
                <a:latin typeface="Aptos"/>
              </a:rPr>
              <a:t>≈ </a:t>
            </a:r>
            <a:r>
              <a:rPr lang="en-IN" sz="2400" b="1" dirty="0">
                <a:solidFill>
                  <a:srgbClr val="173B7A"/>
                </a:solidFill>
                <a:latin typeface="Aptos"/>
              </a:rPr>
              <a:t>35k</a:t>
            </a:r>
            <a:endParaRPr sz="2400" b="1" dirty="0">
              <a:solidFill>
                <a:srgbClr val="173B7A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035040" y="11887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35040" y="1188720"/>
            <a:ext cx="64008" cy="1234440"/>
          </a:xfrm>
          <a:prstGeom prst="rect">
            <a:avLst/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32588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628A"/>
                </a:solidFill>
                <a:latin typeface="Aptos"/>
              </a:rPr>
              <a:t>AVG. PROFIT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62763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3B7A"/>
                </a:solidFill>
                <a:latin typeface="Aptos"/>
              </a:rPr>
              <a:t>28.12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1887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32520" y="1188720"/>
            <a:ext cx="64008" cy="1234440"/>
          </a:xfrm>
          <a:prstGeom prst="rect">
            <a:avLst/>
          </a:prstGeom>
          <a:solidFill>
            <a:srgbClr val="F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15400" y="1325880"/>
            <a:ext cx="21945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5628A"/>
                </a:solidFill>
                <a:latin typeface="Aptos"/>
              </a:rPr>
              <a:t>RE</a:t>
            </a:r>
            <a:r>
              <a:rPr lang="en-IN" sz="1000" b="1" dirty="0">
                <a:solidFill>
                  <a:srgbClr val="45628A"/>
                </a:solidFill>
                <a:latin typeface="Aptos"/>
              </a:rPr>
              <a:t>TURN RATE</a:t>
            </a:r>
            <a:endParaRPr sz="1000" b="1" dirty="0">
              <a:solidFill>
                <a:srgbClr val="45628A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15400" y="162763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400" b="1" dirty="0">
                <a:solidFill>
                  <a:srgbClr val="173B7A"/>
                </a:solidFill>
                <a:latin typeface="Aptos"/>
              </a:rPr>
              <a:t>0.06</a:t>
            </a:r>
            <a:r>
              <a:rPr sz="2400" b="1" dirty="0">
                <a:solidFill>
                  <a:srgbClr val="173B7A"/>
                </a:solidFill>
                <a:latin typeface="Aptos"/>
              </a:rPr>
              <a:t>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6974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286207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3B7A"/>
                </a:solidFill>
                <a:latin typeface="Aptos"/>
              </a:rPr>
              <a:t>Major 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291840"/>
            <a:ext cx="4892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Electronics is the strongest sales category with approximately 3.32M in sales.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Electronics also has a high average profit margin of approximately 55.72.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Grocery sales are much lower, at approximately 82K.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6974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28232" y="286207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3B7A"/>
                </a:solidFill>
                <a:latin typeface="Aptos"/>
              </a:rPr>
              <a:t>Trends &amp; Data Behavior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3291840"/>
            <a:ext cx="4892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Grocery has a negative average profit margin of approximately -2.26.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Sales fluctuate over time, with December 2024 reaching roughly 278K.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Profit margin contains outliers; these were retained because they may represent genuine business losses.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5628A"/>
                </a:solidFill>
                <a:latin typeface="Aptos"/>
              </a:rPr>
              <a:t>E-Commerce Sales &amp; Customer Analytics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B7A"/>
                </a:solidFill>
                <a:latin typeface="Aptos"/>
              </a:rPr>
              <a:t>5.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5628A"/>
                </a:solidFill>
                <a:latin typeface="Aptos"/>
              </a:rPr>
              <a:t>Five charts used to communicate the most important patterns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5628A"/>
                </a:solidFill>
                <a:latin typeface="Aptos"/>
              </a:rPr>
              <a:t>E-Commerce Sales &amp; Customer Analytics  •  6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8596A80-8FE9-EF7E-56CF-885D2D6FD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35" y="1561128"/>
            <a:ext cx="4363271" cy="179469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7C18629-B5C5-8D80-E67E-14EF28B06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5996" y="1561128"/>
            <a:ext cx="2619352" cy="39755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756B044-115C-41A0-B9BF-BB71862DB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312" y="1569391"/>
            <a:ext cx="4035878" cy="199551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B8CD729-69FC-E33D-AA86-FC2554BE6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862" y="3724164"/>
            <a:ext cx="4364644" cy="179469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7253C9F-E757-F7CE-4216-4C1391C61F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0049" y="3702613"/>
            <a:ext cx="4069141" cy="18340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B7A"/>
                </a:solidFill>
                <a:latin typeface="Aptos"/>
              </a:rPr>
              <a:t>6.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5628A"/>
                </a:solidFill>
                <a:latin typeface="Aptos"/>
              </a:rPr>
              <a:t>Interactive executive view of sales performance and profitability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5628A"/>
                </a:solidFill>
                <a:latin typeface="Aptos"/>
              </a:rPr>
              <a:t>E-Commerce Sales &amp; Customer Analytics  •  7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CC30E1B-5E4A-0969-6585-9C0E29FBE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601" y="1355617"/>
            <a:ext cx="4328535" cy="50296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B7A"/>
                </a:solidFill>
                <a:latin typeface="Aptos"/>
              </a:rPr>
              <a:t>7. Business Insights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5628A"/>
                </a:solidFill>
                <a:latin typeface="Aptos"/>
              </a:rPr>
              <a:t>Turning analysis into practical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9903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3B7A"/>
                </a:solidFill>
                <a:latin typeface="Aptos"/>
              </a:rPr>
              <a:t>Business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8920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Electronics is the main revenue driver.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Electronics combines strong sales with high profitability.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Grocery contributes comparatively low sales and negative average margin.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Overall return rate is approximately 5.52%.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Sales show monthly fluctuations, with a December 2024 peak of roughly 278K.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Profitability differs substantially across categories.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139903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3B7A"/>
                </a:solidFill>
                <a:latin typeface="Aptos"/>
              </a:rPr>
              <a:t>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1828800"/>
            <a:ext cx="48920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Prioritize inventory and marketing for high-performing Electronics products.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Review Grocery pricing, supplier costs, discounts and shipping economics.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Prepare inventory and campaigns ahead of seasonal sales peaks.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Monitor return rates by category and investigate frequent-return products.</a:t>
            </a:r>
          </a:p>
          <a:p>
            <a:pPr>
              <a:spcAft>
                <a:spcPts val="700"/>
              </a:spcAft>
              <a:defRPr sz="1100">
                <a:solidFill>
                  <a:srgbClr val="263241"/>
                </a:solidFill>
                <a:latin typeface="Aptos"/>
              </a:defRPr>
            </a:pPr>
            <a:r>
              <a:t>• Track sales, profit margin and returns together rather than revenue alone.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589788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73B7A"/>
                </a:solidFill>
                <a:latin typeface="Aptos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5628A"/>
                </a:solidFill>
                <a:latin typeface="Aptos"/>
              </a:rPr>
              <a:t>E-Commerce Sales &amp; Customer Analytics  •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681</Words>
  <Application>Microsoft Office PowerPoint</Application>
  <PresentationFormat>Widescreen</PresentationFormat>
  <Paragraphs>103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Twisha Thakkar</cp:lastModifiedBy>
  <cp:revision>2</cp:revision>
  <dcterms:created xsi:type="dcterms:W3CDTF">2013-01-27T09:14:16Z</dcterms:created>
  <dcterms:modified xsi:type="dcterms:W3CDTF">2026-09-11T12:02:16Z</dcterms:modified>
  <cp:category/>
</cp:coreProperties>
</file>